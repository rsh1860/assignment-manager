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notesMasterIdLst>
    <p:notesMasterId r:id="rId25"/>
  </p:notesMasterIdLst>
  <p:sldIdLst>
    <p:sldId id="256" r:id="rId2"/>
    <p:sldId id="257" r:id="rId3"/>
    <p:sldId id="258" r:id="rId4"/>
    <p:sldId id="273" r:id="rId5"/>
    <p:sldId id="274" r:id="rId6"/>
    <p:sldId id="275" r:id="rId7"/>
    <p:sldId id="281" r:id="rId8"/>
    <p:sldId id="282" r:id="rId9"/>
    <p:sldId id="293" r:id="rId10"/>
    <p:sldId id="287" r:id="rId11"/>
    <p:sldId id="294" r:id="rId12"/>
    <p:sldId id="295" r:id="rId13"/>
    <p:sldId id="288" r:id="rId14"/>
    <p:sldId id="289" r:id="rId15"/>
    <p:sldId id="290" r:id="rId16"/>
    <p:sldId id="291" r:id="rId17"/>
    <p:sldId id="283" r:id="rId18"/>
    <p:sldId id="284" r:id="rId19"/>
    <p:sldId id="285" r:id="rId20"/>
    <p:sldId id="261" r:id="rId21"/>
    <p:sldId id="270" r:id="rId22"/>
    <p:sldId id="271" r:id="rId23"/>
    <p:sldId id="272" r:id="rId24"/>
  </p:sldIdLst>
  <p:sldSz cx="12192000" cy="6858000"/>
  <p:notesSz cx="6858000" cy="9144000"/>
  <p:defaultTextStyle>
    <a:defPPr>
      <a:defRPr lang="ko-KR"/>
    </a:defPPr>
    <a:lvl1pPr marL="0" indent="0" algn="l" defTabSz="914400">
      <a:buNone/>
      <a:defRPr lang="ko-KR" sz="1800" baseline="0" smtClean="0">
        <a:solidFill>
          <a:srgbClr val="000000"/>
        </a:solidFill>
        <a:latin typeface="±¼¸²"/>
        <a:ea typeface="±¼¸²"/>
      </a:defRPr>
    </a:lvl1pPr>
    <a:lvl2pPr marL="457200" lvl="1" indent="0" defTabSz="914400">
      <a:defRPr lang="ko-KR" smtClean="0"/>
    </a:lvl2pPr>
    <a:lvl3pPr marL="914400" lvl="2" indent="0" defTabSz="914400">
      <a:defRPr lang="ko-KR" smtClean="0"/>
    </a:lvl3pPr>
    <a:lvl4pPr marL="1371600" lvl="3" indent="0" defTabSz="914400">
      <a:defRPr lang="ko-KR" smtClean="0"/>
    </a:lvl4pPr>
    <a:lvl5pPr marL="1828800" lvl="4" indent="0" defTabSz="914400">
      <a:defRPr lang="ko-KR" smtClean="0"/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5F77D-396F-4A75-900B-18897A9A2574}" type="datetimeFigureOut">
              <a:rPr lang="ko-KR" altLang="en-US" smtClean="0"/>
              <a:t>2017-12-05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2B738-818C-4E77-AB74-052CA8567E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95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//</a:t>
            </a:r>
            <a:r>
              <a:rPr lang="ko-KR" altLang="en-US" dirty="0"/>
              <a:t>여기까지 아마도 </a:t>
            </a:r>
            <a:r>
              <a:rPr lang="ko-KR" altLang="en-US" dirty="0" err="1"/>
              <a:t>나수현</a:t>
            </a:r>
            <a:r>
              <a:rPr lang="en-US" altLang="ko-KR" dirty="0"/>
              <a:t>???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2B738-818C-4E77-AB74-052CA8567E2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412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맑은 고딕"/>
              <a:buChar char="•"/>
            </a:pPr>
            <a:r>
              <a:rPr lang="en-US" altLang="ko-KR" sz="14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Behavioral Design model for elaboration phase 2</a:t>
            </a:r>
            <a:endParaRPr lang="ko-KR" altLang="en-US" sz="14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457835" indent="0" eaLnBrk="0">
              <a:spcBef>
                <a:spcPts val="500"/>
              </a:spcBef>
              <a:buNone/>
            </a:pPr>
            <a:r>
              <a:rPr lang="en-US" altLang="ko-KR" sz="1200" dirty="0">
                <a:solidFill>
                  <a:srgbClr val="FFFFFF"/>
                </a:solidFill>
                <a:latin typeface="Consolas" charset="0"/>
                <a:ea typeface="Consolas" charset="0"/>
              </a:rPr>
              <a:t>-</a:t>
            </a:r>
            <a:r>
              <a:rPr lang="en-US" altLang="ko-KR" sz="1200" dirty="0">
                <a:solidFill>
                  <a:schemeClr val="bg1"/>
                </a:solidFill>
                <a:latin typeface="Consolas" charset="0"/>
                <a:ea typeface="Consolas" charset="0"/>
              </a:rPr>
              <a:t>Use case Design modeling (1 new/updated major)</a:t>
            </a:r>
            <a:endParaRPr lang="ko-KR" altLang="en-US" sz="1200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457835" indent="0" algn="l" defTabSz="914400" eaLnBrk="0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ko-KR" altLang="en-US" sz="12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1144905" indent="-228600" algn="l" defTabSz="914400" eaLnBrk="0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ko-KR" sz="1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Design Sequence Diagrams</a:t>
            </a:r>
            <a:endParaRPr lang="ko-KR" altLang="en-US" sz="12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2B738-818C-4E77-AB74-052CA8567E2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52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맑은 고딕"/>
              <a:buChar char="•"/>
            </a:pPr>
            <a:r>
              <a:rPr lang="en-US" altLang="ko-KR" sz="14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Behavioral Design model for elaboration phase 2</a:t>
            </a:r>
          </a:p>
          <a:p>
            <a:pPr marL="228600" indent="-228600" defTabSz="508000">
              <a:lnSpc>
                <a:spcPct val="90000"/>
              </a:lnSpc>
              <a:spcBef>
                <a:spcPts val="0"/>
              </a:spcBef>
              <a:buClr>
                <a:srgbClr val="FFFFFF"/>
              </a:buClr>
              <a:buFont typeface="맑은 고딕"/>
              <a:buChar char="•"/>
            </a:pPr>
            <a:r>
              <a:rPr lang="en-US" altLang="ko-KR" dirty="0">
                <a:solidFill>
                  <a:srgbClr val="FFFFFF"/>
                </a:solidFill>
                <a:latin typeface="Consolas" charset="0"/>
                <a:ea typeface="Consolas" charset="0"/>
              </a:rPr>
              <a:t>-</a:t>
            </a:r>
            <a:r>
              <a:rPr lang="en-US" altLang="ko-KR" sz="1200" dirty="0">
                <a:solidFill>
                  <a:schemeClr val="bg1"/>
                </a:solidFill>
                <a:latin typeface="Consolas" charset="0"/>
                <a:ea typeface="Consolas" charset="0"/>
              </a:rPr>
              <a:t>Use case Design modeling (1 new/updated major)</a:t>
            </a:r>
            <a:endParaRPr lang="ko-KR" altLang="en-US" sz="1200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맑은 고딕"/>
              <a:buChar char="•"/>
            </a:pPr>
            <a:endParaRPr lang="ko-KR" altLang="en-US" sz="12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1144905" indent="-228600" algn="l" defTabSz="914400" eaLnBrk="0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ko-KR" sz="1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Pattern’s applied</a:t>
            </a:r>
            <a:endParaRPr lang="ko-KR" altLang="en-US" sz="12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2B738-818C-4E77-AB74-052CA8567E2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241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맑은 고딕"/>
              <a:buChar char="•"/>
            </a:pPr>
            <a:r>
              <a:rPr lang="en-US" altLang="ko-KR" sz="14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Behavioral Design model for elaboration phase 2</a:t>
            </a:r>
            <a:endParaRPr lang="en-US" altLang="ko-KR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228600" indent="-228600" defTabSz="508000">
              <a:lnSpc>
                <a:spcPct val="90000"/>
              </a:lnSpc>
              <a:spcBef>
                <a:spcPts val="0"/>
              </a:spcBef>
              <a:buClr>
                <a:srgbClr val="FFFFFF"/>
              </a:buClr>
              <a:buFont typeface="맑은 고딕"/>
              <a:buChar char="•"/>
            </a:pPr>
            <a:r>
              <a:rPr lang="en-US" altLang="ko-KR" sz="1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-</a:t>
            </a:r>
            <a:r>
              <a:rPr lang="en-US" altLang="ko-KR" sz="1200" dirty="0">
                <a:solidFill>
                  <a:schemeClr val="bg1"/>
                </a:solidFill>
                <a:latin typeface="Consolas" charset="0"/>
                <a:ea typeface="Consolas" charset="0"/>
              </a:rPr>
              <a:t>Use case Design modeling (1 new/updated major)</a:t>
            </a:r>
            <a:endParaRPr lang="ko-KR" altLang="en-US" sz="1200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맑은 고딕"/>
              <a:buChar char="•"/>
            </a:pPr>
            <a:endParaRPr lang="ko-KR" altLang="en-US" sz="12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1144905" indent="-228600" algn="l" defTabSz="914400" eaLnBrk="0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ko-KR" sz="1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Use case view//?????? View </a:t>
            </a:r>
            <a:r>
              <a:rPr lang="en-US" altLang="ko-KR" sz="1200" b="0" cap="none" dirty="0" err="1">
                <a:solidFill>
                  <a:srgbClr val="FFFFFF"/>
                </a:solidFill>
                <a:latin typeface="Consolas" charset="0"/>
                <a:ea typeface="Consolas" charset="0"/>
              </a:rPr>
              <a:t>파트</a:t>
            </a:r>
            <a:r>
              <a:rPr lang="en-US" altLang="ko-KR" sz="1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 </a:t>
            </a:r>
            <a:r>
              <a:rPr lang="en-US" altLang="ko-KR" sz="1200" b="0" cap="none" dirty="0" err="1">
                <a:solidFill>
                  <a:srgbClr val="FFFFFF"/>
                </a:solidFill>
                <a:latin typeface="Consolas" charset="0"/>
                <a:ea typeface="Consolas" charset="0"/>
              </a:rPr>
              <a:t>넣는거</a:t>
            </a:r>
            <a:r>
              <a:rPr lang="en-US" altLang="ko-KR" sz="1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 </a:t>
            </a:r>
            <a:r>
              <a:rPr lang="en-US" altLang="ko-KR" sz="1200" b="0" cap="none" dirty="0" err="1">
                <a:solidFill>
                  <a:srgbClr val="FFFFFF"/>
                </a:solidFill>
                <a:latin typeface="Consolas" charset="0"/>
                <a:ea typeface="Consolas" charset="0"/>
              </a:rPr>
              <a:t>맞나</a:t>
            </a:r>
            <a:r>
              <a:rPr lang="en-US" altLang="ko-KR" sz="1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?</a:t>
            </a:r>
            <a:endParaRPr lang="ko-KR" altLang="en-US" sz="12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2B738-818C-4E77-AB74-052CA8567E2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244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Describe the changes made to the project scope/requirements, if any</a:t>
            </a:r>
            <a:endParaRPr lang="ko-KR" altLang="en-US" sz="12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2B738-818C-4E77-AB74-052CA8567E2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65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ctrTitle"/>
          </p:nvPr>
        </p:nvSpPr>
        <p:spPr>
          <a:xfrm>
            <a:off x="914400" y="2131060"/>
            <a:ext cx="10363835" cy="14719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5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5035" cy="175577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2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32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날짜 개체 틀 4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5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날짜 개체 틀 4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963295" y="2908300"/>
            <a:ext cx="10363200" cy="14992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33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533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963295" y="4406900"/>
            <a:ext cx="10363200" cy="13633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26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날짜 개체 틀 4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5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5389880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내용 개체 틀 3"/>
          <p:cNvSpPr txBox="1">
            <a:spLocks noGrp="1"/>
          </p:cNvSpPr>
          <p:nvPr>
            <p:ph idx="2"/>
          </p:nvPr>
        </p:nvSpPr>
        <p:spPr>
          <a:xfrm>
            <a:off x="6193155" y="1600200"/>
            <a:ext cx="5389880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날짜 개체 틀 5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바닥글 개체 틀 6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5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09600" y="1536700"/>
            <a:ext cx="5389880" cy="64071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2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32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개체 틀 3"/>
          <p:cNvSpPr txBox="1">
            <a:spLocks noGrp="1"/>
          </p:cNvSpPr>
          <p:nvPr>
            <p:ph type="body" idx="2"/>
          </p:nvPr>
        </p:nvSpPr>
        <p:spPr>
          <a:xfrm>
            <a:off x="6193155" y="1536700"/>
            <a:ext cx="5389880" cy="64071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2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32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내용 개체 틀 4"/>
          <p:cNvSpPr txBox="1">
            <a:spLocks noGrp="1"/>
          </p:cNvSpPr>
          <p:nvPr>
            <p:ph idx="3"/>
          </p:nvPr>
        </p:nvSpPr>
        <p:spPr>
          <a:xfrm>
            <a:off x="609600" y="2176780"/>
            <a:ext cx="5389880" cy="39503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내용 개체 틀 5"/>
          <p:cNvSpPr txBox="1">
            <a:spLocks noGrp="1"/>
          </p:cNvSpPr>
          <p:nvPr>
            <p:ph idx="4"/>
          </p:nvPr>
        </p:nvSpPr>
        <p:spPr>
          <a:xfrm>
            <a:off x="6193155" y="2176780"/>
            <a:ext cx="5389880" cy="39503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날짜 개체 틀 7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" name="바닥글 개체 틀 8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5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슬라이드 번호 개체 틀 2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날짜 개체 틀 3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바닥글 개체 틀 4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바닥글 개체 틀 3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4011930" cy="116205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26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4767580" y="457200"/>
            <a:ext cx="6815455" cy="54870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개체 틀 3"/>
          <p:cNvSpPr txBox="1">
            <a:spLocks noGrp="1"/>
          </p:cNvSpPr>
          <p:nvPr>
            <p:ph type="body" idx="2"/>
          </p:nvPr>
        </p:nvSpPr>
        <p:spPr>
          <a:xfrm>
            <a:off x="609600" y="1435735"/>
            <a:ext cx="4011930" cy="469138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1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날짜 개체 틀 5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바닥글 개체 틀 6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4011930" cy="116205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26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09600" y="1435735"/>
            <a:ext cx="4011930" cy="469138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1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그림 개체 틀 3"/>
          <p:cNvSpPr txBox="1">
            <a:spLocks noGrp="1"/>
          </p:cNvSpPr>
          <p:nvPr>
            <p:ph type="pic" idx="2"/>
          </p:nvPr>
        </p:nvSpPr>
        <p:spPr>
          <a:xfrm>
            <a:off x="4767580" y="457200"/>
            <a:ext cx="6815455" cy="54870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그림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날짜 개체 틀 5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바닥글 개체 틀 6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5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세로 텍스트 개체 틀 2"/>
          <p:cNvSpPr txBox="1"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날짜 개체 틀 4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 txBox="1">
            <a:spLocks noGrp="1"/>
          </p:cNvSpPr>
          <p:nvPr>
            <p:ph type="title" orient="vert"/>
          </p:nvPr>
        </p:nvSpPr>
        <p:spPr>
          <a:xfrm>
            <a:off x="8839200" y="274320"/>
            <a:ext cx="2743835" cy="5852795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부제목 스타일 편집</a:t>
            </a:r>
            <a:endParaRPr lang="ko-KR" altLang="en-US" sz="5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세로 텍스트 개체 틀 2"/>
          <p:cNvSpPr txBox="1">
            <a:spLocks noGrp="1"/>
          </p:cNvSpPr>
          <p:nvPr>
            <p:ph type="body" orient="vert" idx="1"/>
          </p:nvPr>
        </p:nvSpPr>
        <p:spPr>
          <a:xfrm>
            <a:off x="609600" y="274320"/>
            <a:ext cx="8034655" cy="5852795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2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날짜 개체 틀 4"/>
          <p:cNvSpPr txBox="1">
            <a:spLocks noGrp="1"/>
          </p:cNvSpPr>
          <p:nvPr>
            <p:ph type="dt" idx="10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11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제목 스타일 편집</a:t>
            </a:r>
            <a:endParaRPr lang="ko-KR" altLang="en-US" sz="5865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마스터 텍스트 스타일을 편집합니다</a:t>
            </a: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6858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4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둘째 수준</a:t>
            </a:r>
            <a:endParaRPr lang="ko-KR" altLang="en-US" sz="24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1430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20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셋째 수준</a:t>
            </a:r>
            <a:endParaRPr lang="ko-KR" altLang="en-US" sz="20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16002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8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넷째 수준</a:t>
            </a:r>
            <a:endParaRPr lang="ko-KR" altLang="en-US" sz="1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20574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1600" b="0" cap="none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다섯째 수준</a:t>
            </a:r>
            <a:endParaRPr lang="ko-KR" altLang="en-US" sz="16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4"/>
          </p:nvPr>
        </p:nvSpPr>
        <p:spPr>
          <a:xfrm>
            <a:off x="91440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‹#›</a:t>
            </a:fld>
            <a:endParaRPr lang="ko-KR" altLang="en-US" sz="1800" b="0" cap="none" dirty="0">
              <a:latin typeface="맑은 고딕" charset="0"/>
              <a:ea typeface="맑은 고딕" charset="0"/>
            </a:endParaRPr>
          </a:p>
        </p:txBody>
      </p:sp>
      <p:sp>
        <p:nvSpPr>
          <p:cNvPr id="5" name="날짜 개체 틀 4"/>
          <p:cNvSpPr txBox="1">
            <a:spLocks noGrp="1"/>
          </p:cNvSpPr>
          <p:nvPr>
            <p:ph type="dt" idx="2"/>
          </p:nvPr>
        </p:nvSpPr>
        <p:spPr>
          <a:xfrm>
            <a:off x="609600" y="6263640"/>
            <a:ext cx="24390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GB" altLang="en-US" sz="1200" b="0" cap="none" dirty="0" smtClean="0">
                <a:solidFill>
                  <a:srgbClr val="898989"/>
                </a:solidFill>
                <a:latin typeface="맑은 고딕" charset="0"/>
                <a:ea typeface="맑은 고딕" charset="0"/>
              </a:rPr>
              <a:t>05/12/2017</a:t>
            </a:fld>
            <a:endParaRPr lang="ko-KR" altLang="en-US" sz="1800" b="0" cap="none" dirty="0">
              <a:latin typeface="맑은 고딕" charset="0"/>
              <a:ea typeface="맑은 고딕" charset="0"/>
            </a:endParaRPr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3"/>
          </p:nvPr>
        </p:nvSpPr>
        <p:spPr>
          <a:xfrm>
            <a:off x="4267200" y="6263640"/>
            <a:ext cx="36582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200" b="0" cap="none" dirty="0">
              <a:solidFill>
                <a:srgbClr val="898989"/>
              </a:solidFill>
              <a:latin typeface="맑은 고딕" charset="0"/>
              <a:ea typeface="맑은 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rgbClr val="000000"/>
          </a:solidFill>
          <a:latin typeface="±¼¸²"/>
          <a:ea typeface="±¼¸²"/>
        </a:defRPr>
      </a:lvl1pPr>
    </p:titleStyle>
    <p:bodyStyle>
      <a:lvl1pPr marL="342900" indent="-342900" algn="l" defTabSz="914400" latinLnBrk="1">
        <a:spcBef>
          <a:spcPct val="20000"/>
        </a:spcBef>
        <a:buFont typeface="±¼¸²"/>
        <a:buChar char="•"/>
        <a:defRPr lang="ko-KR" sz="2800" baseline="0" smtClean="0">
          <a:solidFill>
            <a:srgbClr val="000000"/>
          </a:solidFill>
          <a:latin typeface="±¼¸²"/>
          <a:ea typeface="±¼¸²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●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»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rgbClr val="000000"/>
          </a:solidFill>
          <a:latin typeface="±¼¸²"/>
          <a:ea typeface="±¼¸²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ctrTitle"/>
          </p:nvPr>
        </p:nvSpPr>
        <p:spPr>
          <a:xfrm>
            <a:off x="914400" y="1844824"/>
            <a:ext cx="10363835" cy="14211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 fontScale="90000"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Project Assignment Manager</a:t>
            </a:r>
            <a:endParaRPr lang="ko-KR" altLang="en-US" sz="5865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>
            <a:off x="4846955" y="3884930"/>
            <a:ext cx="9258300" cy="283972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 fontScale="70000" lnSpcReduction="20000"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2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Team 5main</a:t>
            </a:r>
            <a:endParaRPr lang="ko-KR" altLang="en-US" sz="32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32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 err="1">
                <a:solidFill>
                  <a:schemeClr val="bg1"/>
                </a:solidFill>
                <a:latin typeface="Consolas" charset="0"/>
                <a:ea typeface="Consolas" charset="0"/>
              </a:rPr>
              <a:t>Presenters:</a:t>
            </a:r>
            <a:r>
              <a:rPr lang="en-US" altLang="ko-KR" sz="2800" b="0" cap="none" dirty="0" err="1">
                <a:solidFill>
                  <a:srgbClr val="FFFFFF"/>
                </a:solidFill>
                <a:latin typeface="Consolas" charset="0"/>
                <a:ea typeface="Consolas" charset="0"/>
              </a:rPr>
              <a:t>HyeJee</a:t>
            </a:r>
            <a:r>
              <a:rPr lang="en-US" altLang="ko-KR" sz="28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 Choi</a:t>
            </a:r>
            <a:endParaRPr lang="en-US" altLang="ko-KR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Team members:JunHyuk Jeong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286000" indent="2540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 SuHyeon Ra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286000" indent="2540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 JuYeon Lee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286000" indent="2540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 </a:t>
            </a:r>
            <a:r>
              <a:rPr lang="en-US" altLang="ko-KR" sz="2800" b="0" cap="none" dirty="0" err="1">
                <a:solidFill>
                  <a:schemeClr val="bg1"/>
                </a:solidFill>
                <a:latin typeface="Consolas" charset="0"/>
                <a:ea typeface="Consolas" charset="0"/>
              </a:rPr>
              <a:t>NaHyun</a:t>
            </a: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 </a:t>
            </a:r>
            <a:r>
              <a:rPr lang="en-US" altLang="ko-KR" sz="2800" b="0" cap="none" dirty="0" err="1">
                <a:solidFill>
                  <a:schemeClr val="bg1"/>
                </a:solidFill>
                <a:latin typeface="Consolas" charset="0"/>
                <a:ea typeface="Consolas" charset="0"/>
              </a:rPr>
              <a:t>Meang</a:t>
            </a:r>
            <a:endParaRPr lang="en-US" altLang="ko-KR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286000" indent="254000" defTabSz="508000">
              <a:spcBef>
                <a:spcPts val="0"/>
              </a:spcBef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latin typeface="Consolas" charset="0"/>
                <a:ea typeface="Consolas" charset="0"/>
              </a:rPr>
              <a:t>SuHyeon</a:t>
            </a:r>
            <a:r>
              <a:rPr lang="en-US" altLang="ko-KR" dirty="0">
                <a:solidFill>
                  <a:srgbClr val="FFFFFF"/>
                </a:solidFill>
                <a:latin typeface="Consolas" charset="0"/>
                <a:ea typeface="Consolas" charset="0"/>
              </a:rPr>
              <a:t> Ra</a:t>
            </a:r>
            <a:endParaRPr lang="ko-KR" altLang="en-US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286000" indent="25400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br>
              <a:rPr lang="en-US" altLang="ko-KR" sz="10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</a:br>
            <a:endParaRPr lang="ko-KR" altLang="en-US" sz="32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Project Overview-Vision</a:t>
            </a:r>
            <a:endParaRPr lang="ko-KR" altLang="en-US" sz="5865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479550"/>
            <a:ext cx="10973435" cy="512508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1. Problem Statement&amp;Solution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54000" indent="2540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Students are suffering more and more as semester goes by. Because their assignments and confusion will be more and more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254000" indent="2540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-&gt; ‘Assignment Manager’ helps them remember what to do today</a:t>
            </a:r>
            <a:b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</a:b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0" indent="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2. Assumptions and Constraints</a:t>
            </a:r>
          </a:p>
          <a:p>
            <a:pPr marL="0" indent="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	Assumptions : Users are all Students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Requirements &amp; Analysis</a:t>
            </a:r>
            <a:endParaRPr lang="ko-KR" altLang="en-US" sz="5865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2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1. Use Case Diagram</a:t>
            </a:r>
            <a:endParaRPr lang="ko-KR" altLang="en-US" sz="32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343535" indent="-343535" algn="l" defTabSz="914400" eaLnBrk="0" fontAlgn="auto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810000" y="2286000"/>
            <a:ext cx="4572635" cy="431165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just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br>
              <a:rPr lang="en-US" altLang="ko-KR" sz="1000" b="0" cap="none" dirty="0">
                <a:latin typeface="맑은 고딕" charset="0"/>
                <a:ea typeface="맑은 고딕" charset="0"/>
              </a:rPr>
            </a:br>
            <a:endParaRPr lang="ko-KR" altLang="en-US" sz="1800" b="0" cap="none" dirty="0">
              <a:latin typeface="맑은 고딕" charset="0"/>
              <a:ea typeface="맑은 고딕" charset="0"/>
            </a:endParaRPr>
          </a:p>
        </p:txBody>
      </p:sp>
      <p:pic>
        <p:nvPicPr>
          <p:cNvPr id="5" name="그림 4" descr="C:/Users/USER/AppData/Roaming/PolarisOffice/ETemp/7908_758224/fImage35612232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480" y="110236"/>
            <a:ext cx="5184775" cy="65233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Requirements &amp; Analysis</a:t>
            </a:r>
            <a:endParaRPr lang="ko-KR" altLang="en-US" sz="5865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endParaRPr lang="ko-KR" altLang="en-US" sz="2800" b="0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내용 개체 틀 5"/>
          <p:cNvSpPr txBox="1">
            <a:spLocks noGrp="1"/>
          </p:cNvSpPr>
          <p:nvPr>
            <p:ph idx="2"/>
          </p:nvPr>
        </p:nvSpPr>
        <p:spPr>
          <a:xfrm>
            <a:off x="681355" y="1671955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2. Domain Model diagram</a:t>
            </a:r>
            <a:endParaRPr lang="ko-KR" altLang="en-US" sz="28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585D92D-5D63-4B16-BA86-4D839DAA5F92}"/>
              </a:ext>
            </a:extLst>
          </p:cNvPr>
          <p:cNvGrpSpPr/>
          <p:nvPr/>
        </p:nvGrpSpPr>
        <p:grpSpPr>
          <a:xfrm>
            <a:off x="2855640" y="188640"/>
            <a:ext cx="9871087" cy="6226642"/>
            <a:chOff x="2783632" y="188640"/>
            <a:chExt cx="9871087" cy="6226642"/>
          </a:xfrm>
        </p:grpSpPr>
        <p:pic>
          <p:nvPicPr>
            <p:cNvPr id="1026" name="Picture 2" descr="https://lh5.googleusercontent.com/b6br2LuQUE4fFIA_Id7npBigZNY2aqqEg2dN5sScFemyGYW_YAYiqCfsKBfuAvtXwr_HIRTuRxNDC_XD1vMlOtW5yD6bd9bJpYpsQXktnbUcdcu4SbBtweXNRchZrGsTUWU5kGLV">
              <a:extLst>
                <a:ext uri="{FF2B5EF4-FFF2-40B4-BE49-F238E27FC236}">
                  <a16:creationId xmlns:a16="http://schemas.microsoft.com/office/drawing/2014/main" id="{27598925-5144-4966-91F6-9A2E90E2D3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3632" y="188640"/>
              <a:ext cx="9209923" cy="6226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B3780B5-AB4C-4842-B546-912BF3971D23}"/>
                </a:ext>
              </a:extLst>
            </p:cNvPr>
            <p:cNvSpPr/>
            <p:nvPr/>
          </p:nvSpPr>
          <p:spPr>
            <a:xfrm>
              <a:off x="6558719" y="302913"/>
              <a:ext cx="6096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ko-KR" dirty="0">
                  <a:latin typeface="Arial" panose="020B0604020202020204" pitchFamily="34" charset="0"/>
                </a:rPr>
                <a:t>Domain Model Diagram of use case 1,2, and 3</a:t>
              </a:r>
              <a:br>
                <a:rPr lang="en-US" altLang="ko-KR" dirty="0"/>
              </a:b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C9363E-A04C-4845-8AD1-74F0408389C0}"/>
              </a:ext>
            </a:extLst>
          </p:cNvPr>
          <p:cNvGrpSpPr/>
          <p:nvPr/>
        </p:nvGrpSpPr>
        <p:grpSpPr>
          <a:xfrm>
            <a:off x="3453126" y="99042"/>
            <a:ext cx="10771853" cy="6503367"/>
            <a:chOff x="3453126" y="99042"/>
            <a:chExt cx="10771853" cy="6503367"/>
          </a:xfrm>
        </p:grpSpPr>
        <p:pic>
          <p:nvPicPr>
            <p:cNvPr id="8" name="그림 7" descr="C:/Users/USER/AppData/Roaming/PolarisOffice/ETemp/7908_758224/fImage561833286334.png">
              <a:extLst>
                <a:ext uri="{FF2B5EF4-FFF2-40B4-BE49-F238E27FC236}">
                  <a16:creationId xmlns:a16="http://schemas.microsoft.com/office/drawing/2014/main" id="{D85B9F4F-EF2D-4886-BF58-4328B21506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3126" y="99042"/>
              <a:ext cx="8615680" cy="6456045"/>
            </a:xfrm>
            <a:prstGeom prst="rect">
              <a:avLst/>
            </a:prstGeom>
            <a:noFill/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37A8D61-5F32-42AB-A337-18AFAB50E778}"/>
                </a:ext>
              </a:extLst>
            </p:cNvPr>
            <p:cNvSpPr/>
            <p:nvPr/>
          </p:nvSpPr>
          <p:spPr>
            <a:xfrm>
              <a:off x="8128979" y="5956078"/>
              <a:ext cx="6096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ko-KR" dirty="0">
                  <a:latin typeface="Arial" panose="020B0604020202020204" pitchFamily="34" charset="0"/>
                </a:rPr>
                <a:t>Domain Model Diagram of use case 4</a:t>
              </a:r>
              <a:br>
                <a:rPr lang="en-US" altLang="ko-KR" dirty="0"/>
              </a:br>
              <a:endParaRPr lang="ko-KR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Requirements &amp; Analysis</a:t>
            </a:r>
            <a:endParaRPr lang="ko-KR" altLang="en-US" sz="5865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2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3. System Sequence Diagram</a:t>
            </a:r>
            <a:endParaRPr lang="ko-KR" altLang="en-US" sz="32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CF1F6A8-0DEF-4018-9FA2-4BED031475AD}"/>
              </a:ext>
            </a:extLst>
          </p:cNvPr>
          <p:cNvGrpSpPr/>
          <p:nvPr/>
        </p:nvGrpSpPr>
        <p:grpSpPr>
          <a:xfrm>
            <a:off x="4796155" y="29845"/>
            <a:ext cx="8150170" cy="6912292"/>
            <a:chOff x="4796155" y="29845"/>
            <a:chExt cx="8150170" cy="6912292"/>
          </a:xfrm>
        </p:grpSpPr>
        <p:pic>
          <p:nvPicPr>
            <p:cNvPr id="5" name="그림 4" descr="C:/Users/USER/AppData/Roaming/PolarisOffice/ETemp/7908_758224/fImage235452376500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6155" y="29845"/>
              <a:ext cx="6933565" cy="6821170"/>
            </a:xfrm>
            <a:prstGeom prst="rect">
              <a:avLst/>
            </a:prstGeom>
            <a:noFill/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2902494-1FE7-4143-874A-D698EA4364DF}"/>
                </a:ext>
              </a:extLst>
            </p:cNvPr>
            <p:cNvSpPr/>
            <p:nvPr/>
          </p:nvSpPr>
          <p:spPr>
            <a:xfrm>
              <a:off x="6130245" y="6295806"/>
              <a:ext cx="681608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System Sequence Diagram </a:t>
              </a:r>
              <a:r>
                <a:rPr lang="en-US" altLang="ko-KR" dirty="0">
                  <a:latin typeface="Arial" panose="020B0604020202020204" pitchFamily="34" charset="0"/>
                </a:rPr>
                <a:t>of use case 1</a:t>
              </a:r>
              <a:br>
                <a:rPr lang="en-US" altLang="ko-KR" dirty="0"/>
              </a:br>
              <a:endParaRPr lang="ko-KR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 fontScale="90000"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Requirements &amp; Analysis-OC1</a:t>
            </a:r>
            <a:endParaRPr lang="ko-KR" altLang="en-US" sz="5865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810000" y="2286000"/>
            <a:ext cx="4572635" cy="738505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just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br>
              <a:rPr lang="en-US" altLang="ko-KR" sz="1000" b="0" cap="none" dirty="0">
                <a:latin typeface="맑은 고딕" charset="0"/>
                <a:ea typeface="맑은 고딕" charset="0"/>
              </a:rPr>
            </a:br>
            <a:endParaRPr lang="ko-KR" altLang="en-US" sz="1000" b="0" cap="none" dirty="0">
              <a:latin typeface="맑은 고딕" charset="0"/>
              <a:ea typeface="맑은 고딕" charset="0"/>
            </a:endParaRPr>
          </a:p>
          <a:p>
            <a:pPr marL="0" indent="0" algn="just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br>
              <a:rPr lang="en-US" altLang="ko-KR" sz="1000" b="0" cap="none" dirty="0">
                <a:latin typeface="맑은 고딕" charset="0"/>
                <a:ea typeface="맑은 고딕" charset="0"/>
              </a:rPr>
            </a:br>
            <a:endParaRPr lang="ko-KR" altLang="en-US" sz="1800" b="0" cap="none" dirty="0">
              <a:latin typeface="맑은 고딕" charset="0"/>
              <a:ea typeface="맑은 고딕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83845" y="1643380"/>
          <a:ext cx="11340465" cy="496125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134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61255">
                <a:tc>
                  <a:txBody>
                    <a:bodyPr/>
                    <a:lstStyle/>
                    <a:p>
                      <a:pPr marL="381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1. Operation: addSemester(id: Integer, year: Integer, semester: String, openingday: Integer, endingday: Integer)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381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2. Cross references: Manage Semester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381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3. Precondition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1. System is already started running,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2. Option Screen is showed.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381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4. Postcondition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1. A Semester instance s was created(instance creation).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2. s was associated with the current semester(association formed).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chemeClr val="bg1"/>
                          </a:solidFill>
                          <a:latin typeface="Consolas" charset="0"/>
                          <a:ea typeface="Consolas" charset="0"/>
                        </a:rPr>
                        <a:t>3. s.attributes(id: Integer, year: Integer, semester: String, openingday: Integer, endingday: Integer) became entered information(attribute modification).</a:t>
                      </a:r>
                      <a:endParaRPr lang="ko-KR" altLang="en-US" sz="1800" b="0" kern="1200" cap="none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</a:endParaRPr>
                    </a:p>
                  </a:txBody>
                  <a:tcPr marL="63500" marR="63500" marT="0" marB="0">
                    <a:lnL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 fontScale="90000"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Requirements &amp; Analysis-OC2</a:t>
            </a:r>
            <a:endParaRPr lang="ko-KR" altLang="en-US" sz="5865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810000" y="2286000"/>
            <a:ext cx="4572635" cy="738505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just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br>
              <a:rPr lang="en-US" altLang="ko-KR" sz="1000" b="0" cap="none" dirty="0">
                <a:latin typeface="맑은 고딕" charset="0"/>
                <a:ea typeface="맑은 고딕" charset="0"/>
              </a:rPr>
            </a:br>
            <a:endParaRPr lang="ko-KR" altLang="en-US" sz="1000" b="0" cap="none" dirty="0">
              <a:latin typeface="맑은 고딕" charset="0"/>
              <a:ea typeface="맑은 고딕" charset="0"/>
            </a:endParaRPr>
          </a:p>
          <a:p>
            <a:pPr marL="0" indent="0" algn="just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br>
              <a:rPr lang="en-US" altLang="ko-KR" sz="1000" b="0" cap="none" dirty="0">
                <a:latin typeface="맑은 고딕" charset="0"/>
                <a:ea typeface="맑은 고딕" charset="0"/>
              </a:rPr>
            </a:br>
            <a:endParaRPr lang="ko-KR" altLang="en-US" sz="1800" b="0" cap="non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08915" y="1704340"/>
          <a:ext cx="11340465" cy="570801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134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6580">
                <a:tc>
                  <a:txBody>
                    <a:bodyPr/>
                    <a:lstStyle/>
                    <a:p>
                      <a:pPr marL="381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1. Operation: modifySemester(year: Integer, semester: String, openingday: Integer, endingday: Integer)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381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2. Cross references: Manage Semester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381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3. Precondition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1. System is already started running,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2. Option Screen is showed.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3. Semester is already selected.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4. Semester s has to be exist already.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381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4. Postcondition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kern="1200" cap="none" dirty="0">
                          <a:solidFill>
                            <a:srgbClr val="FFFFFF"/>
                          </a:solidFill>
                          <a:latin typeface="Consolas" charset="0"/>
                          <a:ea typeface="Consolas" charset="0"/>
                        </a:rPr>
                        <a:t>1. s.attributes(id: Integer, year: Integer, semester: String, openingday: Integer, endingday: Integer) are changed into entered information(attribute modification).</a:t>
                      </a: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</a:txBody>
                  <a:tcPr marL="63500" marR="63500" marT="0" marB="0">
                    <a:lnL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1435">
                <a:tc>
                  <a:txBody>
                    <a:bodyPr/>
                    <a:lstStyle/>
                    <a:p>
                      <a:pPr marL="762000" indent="0" algn="l" defTabSz="508000" fontAlgn="auto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800" b="0" kern="1200" cap="none" dirty="0">
                        <a:solidFill>
                          <a:srgbClr val="FFFFFF"/>
                        </a:solidFill>
                        <a:latin typeface="Consolas" charset="0"/>
                        <a:ea typeface="Consolas" charset="0"/>
                      </a:endParaRPr>
                    </a:p>
                  </a:txBody>
                  <a:tcPr marL="63500" marR="63500" marT="0" marB="0">
                    <a:lnL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41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 fontScale="90000"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Requirements &amp; Analysis-OC3</a:t>
            </a:r>
            <a:endParaRPr lang="ko-KR" altLang="en-US" sz="5865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810000" y="2286000"/>
            <a:ext cx="4572635" cy="738505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just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br>
              <a:rPr lang="en-US" altLang="ko-KR" sz="1000" b="0" cap="none" dirty="0">
                <a:latin typeface="맑은 고딕" charset="0"/>
                <a:ea typeface="맑은 고딕" charset="0"/>
              </a:rPr>
            </a:br>
            <a:endParaRPr lang="ko-KR" altLang="en-US" sz="1000" b="0" cap="none" dirty="0">
              <a:latin typeface="맑은 고딕" charset="0"/>
              <a:ea typeface="맑은 고딕" charset="0"/>
            </a:endParaRPr>
          </a:p>
          <a:p>
            <a:pPr marL="0" indent="0" algn="just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br>
              <a:rPr lang="en-US" altLang="ko-KR" sz="1000" b="0" cap="none" dirty="0">
                <a:latin typeface="맑은 고딕" charset="0"/>
                <a:ea typeface="맑은 고딕" charset="0"/>
              </a:rPr>
            </a:br>
            <a:endParaRPr lang="ko-KR" altLang="en-US" sz="1800" b="0" cap="non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텍스트 상자 6"/>
          <p:cNvSpPr txBox="1">
            <a:spLocks/>
          </p:cNvSpPr>
          <p:nvPr/>
        </p:nvSpPr>
        <p:spPr>
          <a:xfrm>
            <a:off x="224155" y="1718310"/>
            <a:ext cx="11281410" cy="4787265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381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1. Operation: modifySemester(s: Semester)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381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2. Cross references: Manage Semester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381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3. Precondition: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762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1. System is already started running,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762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2. Option Screen is showed.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762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3. Semester is already selected.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762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4. Semester s has to be exist already.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381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4. Postcondition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762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1. Semester object s has deleted.</a:t>
            </a:r>
            <a:endParaRPr lang="ko-KR" altLang="en-US" sz="20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  <a:p>
            <a:pPr marL="762000" indent="0" algn="l" defTabSz="508000" fontAlgn="auto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3600" b="0" cap="none" dirty="0">
              <a:solidFill>
                <a:srgbClr val="00000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477AE9A3-82AB-4211-B761-3ED9E9F62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82" y="2636912"/>
            <a:ext cx="10973435" cy="1143635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Part 2: 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2022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2916C0EF-C693-4D99-9980-F79A8490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234" y="181626"/>
            <a:ext cx="10973435" cy="4526915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</a:rPr>
              <a:t>Architectural Factors and brief resolutions (major ones)</a:t>
            </a:r>
          </a:p>
          <a:p>
            <a:pPr marL="0" indent="0">
              <a:buNone/>
              <a:defRPr/>
            </a:pPr>
            <a:r>
              <a:rPr lang="en-US" altLang="ko-KR" dirty="0">
                <a:solidFill>
                  <a:schemeClr val="bg1"/>
                </a:solidFill>
              </a:rPr>
              <a:t>  </a:t>
            </a:r>
          </a:p>
          <a:p>
            <a:pPr lvl="1">
              <a:buFontTx/>
              <a:buNone/>
              <a:defRPr/>
            </a:pPr>
            <a:endParaRPr lang="en-US" altLang="ko-KR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DA7F09D-2603-4897-9234-C4A38D91A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05306"/>
              </p:ext>
            </p:extLst>
          </p:nvPr>
        </p:nvGraphicFramePr>
        <p:xfrm>
          <a:off x="191344" y="764704"/>
          <a:ext cx="11679406" cy="6081199"/>
        </p:xfrm>
        <a:graphic>
          <a:graphicData uri="http://schemas.openxmlformats.org/drawingml/2006/table">
            <a:tbl>
              <a:tblPr/>
              <a:tblGrid>
                <a:gridCol w="1827763">
                  <a:extLst>
                    <a:ext uri="{9D8B030D-6E8A-4147-A177-3AD203B41FA5}">
                      <a16:colId xmlns:a16="http://schemas.microsoft.com/office/drawing/2014/main" val="1725399178"/>
                    </a:ext>
                  </a:extLst>
                </a:gridCol>
                <a:gridCol w="2339536">
                  <a:extLst>
                    <a:ext uri="{9D8B030D-6E8A-4147-A177-3AD203B41FA5}">
                      <a16:colId xmlns:a16="http://schemas.microsoft.com/office/drawing/2014/main" val="2385146990"/>
                    </a:ext>
                  </a:extLst>
                </a:gridCol>
                <a:gridCol w="2321259">
                  <a:extLst>
                    <a:ext uri="{9D8B030D-6E8A-4147-A177-3AD203B41FA5}">
                      <a16:colId xmlns:a16="http://schemas.microsoft.com/office/drawing/2014/main" val="3439180135"/>
                    </a:ext>
                  </a:extLst>
                </a:gridCol>
                <a:gridCol w="3637250">
                  <a:extLst>
                    <a:ext uri="{9D8B030D-6E8A-4147-A177-3AD203B41FA5}">
                      <a16:colId xmlns:a16="http://schemas.microsoft.com/office/drawing/2014/main" val="2869379306"/>
                    </a:ext>
                  </a:extLst>
                </a:gridCol>
                <a:gridCol w="749383">
                  <a:extLst>
                    <a:ext uri="{9D8B030D-6E8A-4147-A177-3AD203B41FA5}">
                      <a16:colId xmlns:a16="http://schemas.microsoft.com/office/drawing/2014/main" val="3943586857"/>
                    </a:ext>
                  </a:extLst>
                </a:gridCol>
                <a:gridCol w="804215">
                  <a:extLst>
                    <a:ext uri="{9D8B030D-6E8A-4147-A177-3AD203B41FA5}">
                      <a16:colId xmlns:a16="http://schemas.microsoft.com/office/drawing/2014/main" val="3884458316"/>
                    </a:ext>
                  </a:extLst>
                </a:gridCol>
              </a:tblGrid>
              <a:tr h="12414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Factor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Measures and quality scenarios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Variability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Impact of factor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Priority for success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Difficulty or Risk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665873"/>
                  </a:ext>
                </a:extLst>
              </a:tr>
              <a:tr h="373895">
                <a:tc gridSpan="6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Reliability-Recoverability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141669"/>
                  </a:ext>
                </a:extLst>
              </a:tr>
              <a:tr h="217369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Recovery from DB failure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When user fails to save the data to DB, system retry to save data within 1 minutes.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Current flexibility: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 After few minutes later, reconnection is possible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40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Evolution: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 None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Higher impact on the large-scale design.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Students may not use this program.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368748"/>
                  </a:ext>
                </a:extLst>
              </a:tr>
              <a:tr h="192666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Recovery from Algorithms failure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When system fails to analyze the assignments, error information is sended to manager and manager confirm.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Current flexibility: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 Error information is 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sended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to manager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40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Evolution: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 None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 above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4786" marR="54786" marT="54786" marB="5478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3158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CE75C4A4-77B0-44E3-B33F-339FF2324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1600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940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9CB9E9F-A342-407D-A7AA-03B66666A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363855"/>
              </p:ext>
            </p:extLst>
          </p:nvPr>
        </p:nvGraphicFramePr>
        <p:xfrm>
          <a:off x="263352" y="188641"/>
          <a:ext cx="11521279" cy="6575050"/>
        </p:xfrm>
        <a:graphic>
          <a:graphicData uri="http://schemas.openxmlformats.org/drawingml/2006/table">
            <a:tbl>
              <a:tblPr/>
              <a:tblGrid>
                <a:gridCol w="1803017">
                  <a:extLst>
                    <a:ext uri="{9D8B030D-6E8A-4147-A177-3AD203B41FA5}">
                      <a16:colId xmlns:a16="http://schemas.microsoft.com/office/drawing/2014/main" val="2343238976"/>
                    </a:ext>
                  </a:extLst>
                </a:gridCol>
                <a:gridCol w="2307862">
                  <a:extLst>
                    <a:ext uri="{9D8B030D-6E8A-4147-A177-3AD203B41FA5}">
                      <a16:colId xmlns:a16="http://schemas.microsoft.com/office/drawing/2014/main" val="3305379989"/>
                    </a:ext>
                  </a:extLst>
                </a:gridCol>
                <a:gridCol w="2289832">
                  <a:extLst>
                    <a:ext uri="{9D8B030D-6E8A-4147-A177-3AD203B41FA5}">
                      <a16:colId xmlns:a16="http://schemas.microsoft.com/office/drawing/2014/main" val="3882080822"/>
                    </a:ext>
                  </a:extLst>
                </a:gridCol>
                <a:gridCol w="3588004">
                  <a:extLst>
                    <a:ext uri="{9D8B030D-6E8A-4147-A177-3AD203B41FA5}">
                      <a16:colId xmlns:a16="http://schemas.microsoft.com/office/drawing/2014/main" val="4286637689"/>
                    </a:ext>
                  </a:extLst>
                </a:gridCol>
                <a:gridCol w="739236">
                  <a:extLst>
                    <a:ext uri="{9D8B030D-6E8A-4147-A177-3AD203B41FA5}">
                      <a16:colId xmlns:a16="http://schemas.microsoft.com/office/drawing/2014/main" val="535180158"/>
                    </a:ext>
                  </a:extLst>
                </a:gridCol>
                <a:gridCol w="793328">
                  <a:extLst>
                    <a:ext uri="{9D8B030D-6E8A-4147-A177-3AD203B41FA5}">
                      <a16:colId xmlns:a16="http://schemas.microsoft.com/office/drawing/2014/main" val="1202146592"/>
                    </a:ext>
                  </a:extLst>
                </a:gridCol>
              </a:tblGrid>
              <a:tr h="437855">
                <a:tc gridSpan="6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Performance-Response Time</a:t>
                      </a:r>
                      <a:endParaRPr lang="en-US" sz="3600" dirty="0">
                        <a:effectLst/>
                      </a:endParaRPr>
                    </a:p>
                  </a:txBody>
                  <a:tcPr marL="144217" marR="144217" marT="72108" marB="7210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804393"/>
                  </a:ext>
                </a:extLst>
              </a:tr>
              <a:tr h="333675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Reduce Response Time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System answer the user’s request within 0.5 seconds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Current flexibility:</a:t>
                      </a:r>
                      <a:endParaRPr lang="en-U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It is possible within 0.5 seconds for 90%</a:t>
                      </a:r>
                      <a:endParaRPr lang="en-U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3600">
                          <a:effectLst/>
                        </a:rPr>
                      </a:b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Evolution:</a:t>
                      </a:r>
                      <a:endParaRPr lang="en-U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It is possible within 0.5 seconds for 95%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Influence on design is small</a:t>
                      </a:r>
                      <a:endParaRPr lang="en-US" sz="3600" dirty="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935410"/>
                  </a:ext>
                </a:extLst>
              </a:tr>
              <a:tr h="437855">
                <a:tc gridSpan="6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Supportability-Maintainability</a:t>
                      </a:r>
                      <a:endParaRPr lang="en-US" sz="3600">
                        <a:effectLst/>
                      </a:endParaRPr>
                    </a:p>
                  </a:txBody>
                  <a:tcPr marL="144217" marR="144217" marT="72108" marB="7210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53323"/>
                  </a:ext>
                </a:extLst>
              </a:tr>
              <a:tr h="234026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Support user’s problem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When user sends an e-mail to manager, manager answers within 24 hours.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Current flexibility:</a:t>
                      </a:r>
                      <a:endParaRPr lang="en-U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Manager answers within 24 hours</a:t>
                      </a:r>
                      <a:endParaRPr lang="en-U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3600">
                          <a:effectLst/>
                        </a:rPr>
                      </a:b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Evolution:</a:t>
                      </a:r>
                      <a:endParaRPr lang="en-U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None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Impact is small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  <a:endParaRPr lang="en-US" sz="360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endParaRPr lang="en-US" sz="3600" dirty="0">
                        <a:effectLst/>
                      </a:endParaRPr>
                    </a:p>
                  </a:txBody>
                  <a:tcPr marL="100151" marR="100151" marT="100151" marB="10015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95944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13B9057B-F15F-48B5-AD4C-07FCE88C6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56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789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04FAD55-5611-4800-A8FA-E2A1A5B9F0E7}"/>
              </a:ext>
            </a:extLst>
          </p:cNvPr>
          <p:cNvSpPr/>
          <p:nvPr/>
        </p:nvSpPr>
        <p:spPr>
          <a:xfrm>
            <a:off x="191344" y="159593"/>
            <a:ext cx="11881320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Issue : Performance-Reduce Response Time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altLang="ko-KR" sz="2400" dirty="0">
                <a:solidFill>
                  <a:schemeClr val="bg1"/>
                </a:solidFill>
              </a:rPr>
            </a:b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Solution Summary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- When over response time, it is </a:t>
            </a:r>
            <a:r>
              <a:rPr lang="en-US" altLang="ko-KR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sended</a:t>
            </a: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 to error log.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altLang="ko-KR" sz="2400" dirty="0">
                <a:solidFill>
                  <a:schemeClr val="bg1"/>
                </a:solidFill>
              </a:rPr>
            </a:b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Factor :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- Reduce response time as possible.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altLang="ko-KR" sz="2400" dirty="0">
                <a:solidFill>
                  <a:schemeClr val="bg1"/>
                </a:solidFill>
              </a:rPr>
            </a:b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Solution :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- When the response time do not satisfy condition, it is </a:t>
            </a:r>
            <a:r>
              <a:rPr lang="en-US" altLang="ko-KR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sended</a:t>
            </a: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 to error log. The log sends to manager in real time automatically.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altLang="ko-KR" sz="2400" dirty="0">
                <a:solidFill>
                  <a:schemeClr val="bg1"/>
                </a:solidFill>
              </a:rPr>
            </a:b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Motivation :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- If response time is too long, user can not satisfy with this program.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altLang="ko-KR" sz="2400" dirty="0">
                <a:solidFill>
                  <a:schemeClr val="bg1"/>
                </a:solidFill>
              </a:rPr>
            </a:b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Unresolved Issues, Alternatives Considered :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sz="2400" dirty="0">
                <a:solidFill>
                  <a:schemeClr val="bg1"/>
                </a:solidFill>
                <a:latin typeface="Arial" panose="020B0604020202020204" pitchFamily="34" charset="0"/>
              </a:rPr>
              <a:t>- None.</a:t>
            </a:r>
            <a:endParaRPr lang="en-US" altLang="ko-KR" sz="2400" dirty="0">
              <a:solidFill>
                <a:schemeClr val="bg1"/>
              </a:solidFill>
            </a:endParaRPr>
          </a:p>
          <a:p>
            <a:br>
              <a:rPr lang="en-US" altLang="ko-KR" dirty="0">
                <a:solidFill>
                  <a:schemeClr val="bg1"/>
                </a:solidFill>
              </a:rPr>
            </a:br>
            <a:br>
              <a:rPr lang="en-US" altLang="ko-KR" dirty="0">
                <a:solidFill>
                  <a:schemeClr val="bg1"/>
                </a:solidFill>
              </a:rPr>
            </a:b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449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2916C0EF-C693-4D99-9980-F79A8490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93675"/>
            <a:ext cx="10973435" cy="4526915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</a:rPr>
              <a:t>Logical View</a:t>
            </a:r>
          </a:p>
          <a:p>
            <a:pPr lvl="1">
              <a:buFontTx/>
              <a:buNone/>
              <a:defRPr/>
            </a:pP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4098" name="Picture 2" descr="https://lh4.googleusercontent.com/MzZqk2ST9j0GzamUzO4pf88SeiV4DiSmsjGUusjoPIntETcjt0S1qv4xQYwFf43SJwjws_mYHPWspxZKUILop6kLXDEi2j6NgEvDrHic7s2Y_ILPVky2znWZmOgFV6w_dHfFBvpt">
            <a:extLst>
              <a:ext uri="{FF2B5EF4-FFF2-40B4-BE49-F238E27FC236}">
                <a16:creationId xmlns:a16="http://schemas.microsoft.com/office/drawing/2014/main" id="{8459E350-E44B-4D4D-A420-FC81DA936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600" y="0"/>
            <a:ext cx="5292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482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2916C0EF-C693-4D99-9980-F79A8490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332656"/>
            <a:ext cx="10973435" cy="4526915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</a:rPr>
              <a:t>Process View</a:t>
            </a:r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F7FDB696-336A-4BC5-8CCC-44E3F408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1443A1-D6C5-4BEF-8A89-E31ED794FCDD}" type="slidenum">
              <a:rPr lang="en-US" altLang="ko-KR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ko-KR">
              <a:solidFill>
                <a:schemeClr val="bg1"/>
              </a:solidFill>
            </a:endParaRPr>
          </a:p>
        </p:txBody>
      </p:sp>
      <p:pic>
        <p:nvPicPr>
          <p:cNvPr id="5122" name="Picture 2" descr="https://lh6.googleusercontent.com/xtt3zv8wGzXKKevEyfbtqD-aY7-m613X5Rz0Yek8Ch_3rrqVUeVvkNMyAyF_NZFyFzuDlExEz2EQhuVWDC9v2A-5LAW9cuX5dJfjBu7mhD1EEcnrV_57Mc32-qBk-HlbmlEcLZN-">
            <a:extLst>
              <a:ext uri="{FF2B5EF4-FFF2-40B4-BE49-F238E27FC236}">
                <a16:creationId xmlns:a16="http://schemas.microsoft.com/office/drawing/2014/main" id="{567BB21F-EDE4-4924-8ED2-A5184991F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509" y="0"/>
            <a:ext cx="6180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859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2916C0EF-C693-4D99-9980-F79A8490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60648"/>
            <a:ext cx="10973435" cy="4526915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</a:rPr>
              <a:t>Deployment View</a:t>
            </a:r>
          </a:p>
          <a:p>
            <a:pPr lvl="1">
              <a:buFontTx/>
              <a:buNone/>
              <a:defRPr/>
            </a:pP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6146" name="Picture 2" descr="https://lh5.googleusercontent.com/WfZ7AeCJ8mBlnUQuCGAOJnfjykf0k9iyzTLRv7kiw0tTSArcOb7m4swhx9o_aNpMiMhh_tDx7E2uujTSFL1MiY69VwWZs-BSYHLDmJLsNd7ugftr6nvxupjvMtQ2Sn1JhBG5kNp-">
            <a:extLst>
              <a:ext uri="{FF2B5EF4-FFF2-40B4-BE49-F238E27FC236}">
                <a16:creationId xmlns:a16="http://schemas.microsoft.com/office/drawing/2014/main" id="{823CE065-179F-46FA-877A-CCFD4B6BC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1055"/>
            <a:ext cx="3600400" cy="682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467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2916C0EF-C693-4D99-9980-F79A8490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36525"/>
            <a:ext cx="10973435" cy="4526915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</a:rPr>
              <a:t>Data View</a:t>
            </a:r>
          </a:p>
        </p:txBody>
      </p:sp>
      <p:pic>
        <p:nvPicPr>
          <p:cNvPr id="4" name="Picture 2" descr="https://lh6.googleusercontent.com/Yhdzu5zsMlbOx-FlzKtJ4nsS4_veFGItitPcYsL7JWC9neFJ5u5g92mFaKkoxKoTGf2hrIE6D36YSeNht4qB1wQkMlgs4A33lnEpUSqIVwqCeHIS4LFCuJP-Hx2EJMn7wuKfSI1x">
            <a:extLst>
              <a:ext uri="{FF2B5EF4-FFF2-40B4-BE49-F238E27FC236}">
                <a16:creationId xmlns:a16="http://schemas.microsoft.com/office/drawing/2014/main" id="{BA216B9A-BE17-42EE-B6D8-9508D0240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0"/>
            <a:ext cx="4875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114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Part 3: Design model 1</a:t>
            </a:r>
            <a:endParaRPr lang="ko-KR" altLang="en-US" sz="5865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1144905" indent="-228600" algn="l" defTabSz="914400" eaLnBrk="0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ko-KR" altLang="en-US" sz="2400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pic>
        <p:nvPicPr>
          <p:cNvPr id="8194" name="Picture 2" descr="https://lh3.googleusercontent.com/lkC3yjST2wi7wHJhfOO9reDspKpsEit4jTPTz9rZoMGVcAFLteqplckUn2B9QRMWO-Bg-JSsQt2jNA_hHUSo8PS9BqDITkb9aZUOr3cqimpZ9UWFue9enQ_9Yb1ca2uortoqDdPF">
            <a:extLst>
              <a:ext uri="{FF2B5EF4-FFF2-40B4-BE49-F238E27FC236}">
                <a16:creationId xmlns:a16="http://schemas.microsoft.com/office/drawing/2014/main" id="{FD8628CF-9D87-4036-A9C5-0B8E9941F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1977"/>
            <a:ext cx="7560840" cy="541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D29F696-5230-4348-A4BB-6FA34721ABEF}"/>
              </a:ext>
            </a:extLst>
          </p:cNvPr>
          <p:cNvSpPr/>
          <p:nvPr/>
        </p:nvSpPr>
        <p:spPr>
          <a:xfrm>
            <a:off x="7596608" y="612711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rial" panose="020B0604020202020204" pitchFamily="34" charset="0"/>
              </a:rPr>
              <a:t>combined DSD for Manage Semester</a:t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83478" y="10668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Part 3: Design model 2</a:t>
            </a:r>
            <a:endParaRPr lang="ko-KR" altLang="en-US" sz="5865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C5BB34-1910-4035-90BF-3AE654A9F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021072"/>
              </p:ext>
            </p:extLst>
          </p:nvPr>
        </p:nvGraphicFramePr>
        <p:xfrm>
          <a:off x="407368" y="2015087"/>
          <a:ext cx="9105812" cy="1370680"/>
        </p:xfrm>
        <a:graphic>
          <a:graphicData uri="http://schemas.openxmlformats.org/drawingml/2006/table">
            <a:tbl>
              <a:tblPr/>
              <a:tblGrid>
                <a:gridCol w="4545305">
                  <a:extLst>
                    <a:ext uri="{9D8B030D-6E8A-4147-A177-3AD203B41FA5}">
                      <a16:colId xmlns:a16="http://schemas.microsoft.com/office/drawing/2014/main" val="2704690568"/>
                    </a:ext>
                  </a:extLst>
                </a:gridCol>
                <a:gridCol w="4560507">
                  <a:extLst>
                    <a:ext uri="{9D8B030D-6E8A-4147-A177-3AD203B41FA5}">
                      <a16:colId xmlns:a16="http://schemas.microsoft.com/office/drawing/2014/main" val="2997059979"/>
                    </a:ext>
                  </a:extLst>
                </a:gridCol>
              </a:tblGrid>
              <a:tr h="516857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GRASP pattern</a:t>
                      </a:r>
                      <a:endParaRPr lang="en-US" sz="3600">
                        <a:effectLst/>
                      </a:endParaRPr>
                    </a:p>
                  </a:txBody>
                  <a:tcPr marL="126681" marR="126681" marT="91210" marB="9121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Explain</a:t>
                      </a:r>
                      <a:endParaRPr lang="en-US" sz="3600" dirty="0">
                        <a:effectLst/>
                      </a:endParaRPr>
                    </a:p>
                  </a:txBody>
                  <a:tcPr marL="126681" marR="126681" marT="91210" marB="9121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06429"/>
                  </a:ext>
                </a:extLst>
              </a:tr>
              <a:tr h="85129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creator</a:t>
                      </a:r>
                      <a:endParaRPr lang="en-US" sz="3600">
                        <a:effectLst/>
                      </a:endParaRPr>
                    </a:p>
                  </a:txBody>
                  <a:tcPr marL="126681" marR="126681" marT="91210" marB="9121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Semester creates Semester object s.</a:t>
                      </a:r>
                      <a:endParaRPr lang="en-US" sz="3600" dirty="0">
                        <a:effectLst/>
                      </a:endParaRPr>
                    </a:p>
                  </a:txBody>
                  <a:tcPr marL="126681" marR="126681" marT="91210" marB="9121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3357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4D7F4CE-42A4-4743-8E1B-97DA9671D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882988"/>
              </p:ext>
            </p:extLst>
          </p:nvPr>
        </p:nvGraphicFramePr>
        <p:xfrm>
          <a:off x="679593" y="4077067"/>
          <a:ext cx="8266464" cy="1855212"/>
        </p:xfrm>
        <a:graphic>
          <a:graphicData uri="http://schemas.openxmlformats.org/drawingml/2006/table">
            <a:tbl>
              <a:tblPr/>
              <a:tblGrid>
                <a:gridCol w="4485143">
                  <a:extLst>
                    <a:ext uri="{9D8B030D-6E8A-4147-A177-3AD203B41FA5}">
                      <a16:colId xmlns:a16="http://schemas.microsoft.com/office/drawing/2014/main" val="4034279291"/>
                    </a:ext>
                  </a:extLst>
                </a:gridCol>
                <a:gridCol w="3781321">
                  <a:extLst>
                    <a:ext uri="{9D8B030D-6E8A-4147-A177-3AD203B41FA5}">
                      <a16:colId xmlns:a16="http://schemas.microsoft.com/office/drawing/2014/main" val="2997790234"/>
                    </a:ext>
                  </a:extLst>
                </a:gridCol>
              </a:tblGrid>
              <a:tr h="46921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GoF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pattern</a:t>
                      </a:r>
                      <a:endParaRPr lang="en-US" sz="3300" dirty="0">
                        <a:effectLst/>
                      </a:endParaRPr>
                    </a:p>
                  </a:txBody>
                  <a:tcPr marL="115004" marR="115004" marT="82803" marB="8280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Explain</a:t>
                      </a:r>
                      <a:endParaRPr lang="en-US" sz="3300">
                        <a:effectLst/>
                      </a:endParaRPr>
                    </a:p>
                  </a:txBody>
                  <a:tcPr marL="115004" marR="115004" marT="82803" marB="8280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739845"/>
                  </a:ext>
                </a:extLst>
              </a:tr>
              <a:tr h="138004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Observer</a:t>
                      </a:r>
                      <a:endParaRPr lang="en-US" sz="3300">
                        <a:effectLst/>
                      </a:endParaRPr>
                    </a:p>
                  </a:txBody>
                  <a:tcPr marL="115004" marR="115004" marT="82803" marB="8280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Property_Listener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detect the occurrence of semester in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DB_Handler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and notify it to Timetable to show on a screen.</a:t>
                      </a:r>
                      <a:endParaRPr lang="en-US" sz="3300" dirty="0">
                        <a:effectLst/>
                      </a:endParaRPr>
                    </a:p>
                  </a:txBody>
                  <a:tcPr marL="115004" marR="115004" marT="82803" marB="8280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18911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56FB52F-E072-4492-B5B4-047C4CBEA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0502" y="3661530"/>
            <a:ext cx="184731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3F6F5F-7BB0-4906-B758-5E4C539953D8}"/>
              </a:ext>
            </a:extLst>
          </p:cNvPr>
          <p:cNvSpPr/>
          <p:nvPr/>
        </p:nvSpPr>
        <p:spPr>
          <a:xfrm>
            <a:off x="6739711" y="3436839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GRASP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addSemester</a:t>
            </a:r>
            <a:endParaRPr lang="ko-KR" altLang="ko-KR" sz="16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728E1-5599-4563-87EB-7AAA0C5058E5}"/>
              </a:ext>
            </a:extLst>
          </p:cNvPr>
          <p:cNvSpPr/>
          <p:nvPr/>
        </p:nvSpPr>
        <p:spPr>
          <a:xfrm>
            <a:off x="7108147" y="6018509"/>
            <a:ext cx="3884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GoF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addSemester</a:t>
            </a:r>
            <a:endParaRPr lang="ko-KR" altLang="ko-KR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rgbClr val="FFFFFF"/>
                </a:solidFill>
                <a:latin typeface="Consolas" charset="0"/>
                <a:ea typeface="Consolas" charset="0"/>
              </a:rPr>
              <a:t>Part 3: Design model 3</a:t>
            </a:r>
            <a:endParaRPr lang="ko-KR" altLang="en-US" sz="5865" b="0" cap="none" dirty="0">
              <a:solidFill>
                <a:srgbClr val="FFFFFF"/>
              </a:solidFill>
              <a:latin typeface="Consolas" charset="0"/>
              <a:ea typeface="Consolas" charset="0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7BA014B-7A57-49F2-9FDF-05A39E76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2AB25A-1C2E-4AC4-A839-4DFD9FEA4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146" y="5877272"/>
            <a:ext cx="447828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assignment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ko-KR" altLang="ko-KR" sz="1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6" name="Picture 2" descr="https://lh6.googleusercontent.com/HkDZ98Kb2uU1C5EDRczI00L3U20KcvguwOw8KJFTXVftZbGcCEvaAGIRjBz-1WJOx89JdOJEMd59EO0P0IEKXR-GLV7LakWxLZy9u4TouSG2mdvxH9WAnRfkeo0mGB9pLMtWy7xx">
            <a:extLst>
              <a:ext uri="{FF2B5EF4-FFF2-40B4-BE49-F238E27FC236}">
                <a16:creationId xmlns:a16="http://schemas.microsoft.com/office/drawing/2014/main" id="{4EF182B0-D56F-4F2B-BA6A-3444B3138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1417955"/>
            <a:ext cx="8427551" cy="516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Current Status	</a:t>
            </a:r>
            <a:endParaRPr lang="ko-KR" altLang="en-US" sz="5865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119336" y="1417956"/>
            <a:ext cx="11881320" cy="5165724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lvl="0" indent="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1.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Design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is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80%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done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endParaRPr lang="ko-KR" altLang="ko-K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4572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Because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our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design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doesn’t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include</a:t>
            </a: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Security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Implementation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Development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view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endParaRPr lang="ko-KR" altLang="ko-K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4572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 UC1.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Manage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Semester</a:t>
            </a:r>
            <a:endParaRPr lang="ko-KR" altLang="ko-K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4572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 UC2.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Manage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Assignment</a:t>
            </a:r>
            <a:endParaRPr lang="ko-KR" altLang="ko-K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4572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 UC3.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Manage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Personal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Schedule</a:t>
            </a:r>
            <a:endParaRPr lang="ko-KR" altLang="ko-K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4572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 UC4.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Show</a:t>
            </a:r>
            <a:r>
              <a:rPr lang="ko-KR" altLang="ko-KR" sz="20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Suggestion</a:t>
            </a:r>
            <a:endParaRPr lang="ko-KR" altLang="ko-K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4572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</a:pPr>
            <a:endParaRPr lang="ko-KR" altLang="en-US" sz="2000" b="0" cap="none" dirty="0">
              <a:solidFill>
                <a:schemeClr val="bg1"/>
              </a:solidFill>
              <a:latin typeface="Consolas" panose="020B0609020204030204" pitchFamily="49" charset="0"/>
              <a:ea typeface="Consolas" charset="0"/>
            </a:endParaRPr>
          </a:p>
          <a:p>
            <a:pPr marL="343535" indent="-343535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ko-KR" altLang="en-US" sz="2000" b="0" cap="none" dirty="0">
              <a:solidFill>
                <a:schemeClr val="bg1"/>
              </a:solidFill>
              <a:latin typeface="Consolas" panose="020B0609020204030204" pitchFamily="49" charset="0"/>
              <a:ea typeface="Consolas" charset="0"/>
            </a:endParaRPr>
          </a:p>
          <a:p>
            <a:pPr marL="0" indent="0" rtl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  <a:t>2. We have done 20% of the implementation. Also, implemented following use case</a:t>
            </a:r>
          </a:p>
          <a:p>
            <a:pPr marL="0" indent="0" rtl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  <a:t>   instances.</a:t>
            </a:r>
          </a:p>
          <a:p>
            <a:pPr marL="0" indent="0" rtl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  <a:t>	- UC1. Manage Semester</a:t>
            </a:r>
          </a:p>
          <a:p>
            <a:pPr marL="0" indent="0" rtl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  <a:t>	- UC2. Manage Assignment</a:t>
            </a:r>
          </a:p>
          <a:p>
            <a:pPr marL="0" indent="0" rtl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  <a:t>	- UC3. Manage Personal Schedule</a:t>
            </a:r>
          </a:p>
          <a:p>
            <a:pPr marL="0" indent="0" rtl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  <a:t>	- UC4. Show Suggestion</a:t>
            </a:r>
            <a:b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ko-KR" altLang="en-US" sz="2000" b="0" cap="none" dirty="0">
              <a:solidFill>
                <a:schemeClr val="bg1"/>
              </a:solidFill>
              <a:latin typeface="Consolas" panose="020B0609020204030204" pitchFamily="49" charset="0"/>
              <a:ea typeface="Consolas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Recommendations</a:t>
            </a:r>
            <a:endParaRPr lang="ko-KR" altLang="en-US" sz="5865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panose="020B0609020204030204" pitchFamily="49" charset="0"/>
                <a:ea typeface="Consolas" charset="0"/>
              </a:rPr>
              <a:t>Point out lessons learnt from undertaking this project.  Include :</a:t>
            </a:r>
            <a:endParaRPr lang="ko-KR" altLang="en-US" sz="2800" b="0" cap="none" dirty="0">
              <a:solidFill>
                <a:schemeClr val="bg1"/>
              </a:solidFill>
              <a:latin typeface="Consolas" panose="020B0609020204030204" pitchFamily="49" charset="0"/>
              <a:ea typeface="Consolas" charset="0"/>
            </a:endParaRPr>
          </a:p>
          <a:p>
            <a:pPr marL="343535" indent="-343535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en-US" altLang="ko-KR" sz="2800" b="0" cap="none" dirty="0">
              <a:solidFill>
                <a:schemeClr val="bg1"/>
              </a:solidFill>
              <a:latin typeface="Consolas" panose="020B0609020204030204" pitchFamily="49" charset="0"/>
              <a:ea typeface="Consolas" charset="0"/>
            </a:endParaRPr>
          </a:p>
          <a:p>
            <a:pPr marL="343535" indent="-343535" eaLnBrk="0">
              <a:spcBef>
                <a:spcPts val="600"/>
              </a:spcBef>
            </a:pP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1. When creating a domain model, if you follow a classification or other process in a formal way, it will take less time to modify later.</a:t>
            </a:r>
          </a:p>
          <a:p>
            <a:pPr marL="343535" indent="-343535" eaLnBrk="0">
              <a:spcBef>
                <a:spcPts val="600"/>
              </a:spcBef>
            </a:pPr>
            <a:b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chemeClr val="bg1"/>
                </a:solidFill>
                <a:latin typeface="Consolas" panose="020B0609020204030204" pitchFamily="49" charset="0"/>
              </a:rPr>
              <a:t>2. You need to keep a good foundation.</a:t>
            </a:r>
            <a:endParaRPr lang="ko-KR" altLang="en-US" sz="2800" b="0" cap="none" dirty="0">
              <a:solidFill>
                <a:schemeClr val="bg1"/>
              </a:solidFill>
              <a:latin typeface="Consolas" panose="020B0609020204030204" pitchFamily="49" charset="0"/>
              <a:ea typeface="Consolas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Part 4: Demo of Prototype</a:t>
            </a:r>
            <a:endParaRPr lang="ko-KR" altLang="en-US" sz="5865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32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High-Level features of User Interface</a:t>
            </a:r>
            <a:endParaRPr lang="ko-KR" altLang="en-US" sz="32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744220" indent="-286385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Feature 1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744220" indent="-286385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Feature 2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744220" indent="-286385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Feature 2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744220" indent="-286385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343535" indent="-343535" algn="l" defTabSz="914400" eaLnBrk="0" fontAlgn="auto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altLang="ko-KR" sz="32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Etc. // </a:t>
            </a:r>
            <a:r>
              <a:rPr lang="ko-KR" altLang="en-US" sz="32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나현 수정 부탁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34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5865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Live Demonstration </a:t>
            </a:r>
            <a:endParaRPr lang="ko-KR" altLang="en-US" sz="5865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34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508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맑은 고딕"/>
              <a:buChar char="•"/>
            </a:pPr>
            <a:r>
              <a:rPr lang="en-US" altLang="ko-KR" sz="32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Prose description of scenario illustrating prototype functionality</a:t>
            </a:r>
            <a:endParaRPr lang="ko-KR" altLang="en-US" sz="32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457835" indent="0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-Give live planned demonstration</a:t>
            </a:r>
          </a:p>
          <a:p>
            <a:pPr marL="457835" indent="0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ko-KR" dirty="0">
              <a:solidFill>
                <a:schemeClr val="bg1"/>
              </a:solidFill>
              <a:latin typeface="Consolas" charset="0"/>
              <a:ea typeface="Consolas" charset="0"/>
            </a:endParaRPr>
          </a:p>
          <a:p>
            <a:pPr marL="457835" indent="0" algn="l" defTabSz="914400" eaLnBrk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//</a:t>
            </a:r>
            <a:r>
              <a:rPr lang="ko-KR" altLang="en-US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발표</a:t>
            </a: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? </a:t>
            </a:r>
            <a:r>
              <a:rPr lang="ko-KR" altLang="en-US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아마도</a:t>
            </a:r>
            <a:r>
              <a:rPr lang="en-US" altLang="ko-KR" sz="2800" b="0" cap="none" dirty="0">
                <a:solidFill>
                  <a:schemeClr val="bg1"/>
                </a:solidFill>
                <a:latin typeface="Consolas" charset="0"/>
                <a:ea typeface="Consolas" charset="0"/>
              </a:rPr>
              <a:t>?</a:t>
            </a:r>
            <a:endParaRPr lang="ko-KR" altLang="en-US" sz="2800" b="0" cap="none" dirty="0">
              <a:solidFill>
                <a:schemeClr val="bg1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피스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Pages>22</Pages>
  <Words>875</Words>
  <Characters>0</Characters>
  <Application>Microsoft Office PowerPoint</Application>
  <DocSecurity>0</DocSecurity>
  <PresentationFormat>와이드스크린</PresentationFormat>
  <Lines>0</Lines>
  <Paragraphs>206</Paragraphs>
  <Slides>23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±¼¸²</vt:lpstr>
      <vt:lpstr>MS PGothic</vt:lpstr>
      <vt:lpstr>맑은 고딕</vt:lpstr>
      <vt:lpstr>Arial</vt:lpstr>
      <vt:lpstr>Consolas</vt:lpstr>
      <vt:lpstr>Times New Roman</vt:lpstr>
      <vt:lpstr>오피스 테마</vt:lpstr>
      <vt:lpstr>Project Assignment Manager</vt:lpstr>
      <vt:lpstr>Project Overview-Vision</vt:lpstr>
      <vt:lpstr>Requirements &amp; Analysis</vt:lpstr>
      <vt:lpstr>Requirements &amp; Analysis</vt:lpstr>
      <vt:lpstr>Requirements &amp; Analysis</vt:lpstr>
      <vt:lpstr>Requirements &amp; Analysis-OC1</vt:lpstr>
      <vt:lpstr>Requirements &amp; Analysis-OC2</vt:lpstr>
      <vt:lpstr>Requirements &amp; Analysis-OC3</vt:lpstr>
      <vt:lpstr>Part 2: Software Architecture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 3: Design model 1</vt:lpstr>
      <vt:lpstr>Part 3: Design model 2</vt:lpstr>
      <vt:lpstr>Part 3: Design model 3</vt:lpstr>
      <vt:lpstr>Current Status </vt:lpstr>
      <vt:lpstr>Recommendations</vt:lpstr>
      <vt:lpstr>Part 4: Demo of Prototype</vt:lpstr>
      <vt:lpstr>Live Demonstration 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Assignment Manager</dc:title>
  <dc:creator>나 수현</dc:creator>
  <cp:lastModifiedBy>이주연</cp:lastModifiedBy>
  <cp:revision>32</cp:revision>
  <dcterms:modified xsi:type="dcterms:W3CDTF">2017-12-05T08:51:13Z</dcterms:modified>
</cp:coreProperties>
</file>